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84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7906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44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2231" y="-1371600"/>
            <a:ext cx="6400800" cy="6400800"/>
          </a:xfrm>
          <a:prstGeom prst="ellipse">
            <a:avLst/>
          </a:prstGeom>
          <a:solidFill>
            <a:srgbClr val="065A82">
              <a:alpha val="20000"/>
            </a:srgbClr>
          </a:solidFill>
          <a:ln w="12700">
            <a:solidFill>
              <a:srgbClr val="065A82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-731520"/>
            <a:ext cx="4572000" cy="457200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114800"/>
            <a:ext cx="164592" cy="164592"/>
          </a:xfrm>
          <a:prstGeom prst="ellipse">
            <a:avLst/>
          </a:prstGeom>
          <a:solidFill>
            <a:srgbClr val="9EC8D8">
              <a:alpha val="40000"/>
            </a:srgbClr>
          </a:solidFill>
          <a:ln w="6350">
            <a:solidFill>
              <a:srgbClr val="9EC8D8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566160"/>
            <a:ext cx="91440" cy="91440"/>
          </a:xfrm>
          <a:prstGeom prst="ellipse">
            <a:avLst/>
          </a:prstGeom>
          <a:solidFill>
            <a:srgbClr val="9EC8D8">
              <a:alpha val="30000"/>
            </a:srgbClr>
          </a:solidFill>
          <a:ln w="6350">
            <a:solidFill>
              <a:srgbClr val="9EC8D8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4389120"/>
            <a:ext cx="201168" cy="201168"/>
          </a:xfrm>
          <a:prstGeom prst="ellipse">
            <a:avLst/>
          </a:prstGeom>
          <a:solidFill>
            <a:srgbClr val="9EC8D8">
              <a:alpha val="45000"/>
            </a:srgbClr>
          </a:solidFill>
          <a:ln w="6350">
            <a:solidFill>
              <a:srgbClr val="9EC8D8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0" y="3840480"/>
            <a:ext cx="109728" cy="109728"/>
          </a:xfrm>
          <a:prstGeom prst="ellipse">
            <a:avLst/>
          </a:prstGeom>
          <a:solidFill>
            <a:srgbClr val="9EC8D8">
              <a:alpha val="35000"/>
            </a:srgbClr>
          </a:solidFill>
          <a:ln w="6350">
            <a:solidFill>
              <a:srgbClr val="9EC8D8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1097280"/>
            <a:ext cx="73152" cy="73152"/>
          </a:xfrm>
          <a:prstGeom prst="ellipse">
            <a:avLst/>
          </a:prstGeom>
          <a:solidFill>
            <a:srgbClr val="9EC8D8">
              <a:alpha val="25000"/>
            </a:srgbClr>
          </a:solidFill>
          <a:ln w="6350">
            <a:solidFill>
              <a:srgbClr val="9EC8D8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365760"/>
            <a:ext cx="128016" cy="128016"/>
          </a:xfrm>
          <a:prstGeom prst="ellipse">
            <a:avLst/>
          </a:prstGeom>
          <a:solidFill>
            <a:srgbClr val="9EC8D8">
              <a:alpha val="30000"/>
            </a:srgbClr>
          </a:solidFill>
          <a:ln w="6350">
            <a:solidFill>
              <a:srgbClr val="9EC8D8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304288"/>
            <a:ext cx="2011680" cy="36576"/>
          </a:xfrm>
          <a:prstGeom prst="rect">
            <a:avLst/>
          </a:prstGeom>
          <a:solidFill>
            <a:srgbClr val="9EC8D8"/>
          </a:solidFill>
          <a:ln w="12700">
            <a:solidFill>
              <a:srgbClr val="9EC8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1887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 Drift Detector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48640" y="2423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Configuration Drift &amp; Security Audit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2971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A PROJECT BY:</a:t>
            </a:r>
          </a:p>
          <a:p>
            <a:pPr marL="0" indent="0" algn="l">
              <a:buNone/>
            </a:pPr>
            <a:endParaRPr lang="en-US" sz="1100" i="1" dirty="0">
              <a:solidFill>
                <a:srgbClr val="7FB3C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100" i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ABINESH A                   JAYASURYA M                    SHARVESH 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4023360"/>
            <a:ext cx="1508760" cy="749808"/>
          </a:xfrm>
          <a:prstGeom prst="rect">
            <a:avLst/>
          </a:prstGeom>
          <a:solidFill>
            <a:srgbClr val="03243E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4059936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EC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14400" y="444398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87752" y="4023360"/>
            <a:ext cx="1508760" cy="749808"/>
          </a:xfrm>
          <a:prstGeom prst="rect">
            <a:avLst/>
          </a:prstGeom>
          <a:solidFill>
            <a:srgbClr val="03243E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87752" y="4059936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EC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587752" y="444398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Keys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61104" y="4023360"/>
            <a:ext cx="1508760" cy="749808"/>
          </a:xfrm>
          <a:prstGeom prst="rect">
            <a:avLst/>
          </a:prstGeom>
          <a:solidFill>
            <a:srgbClr val="03243E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61104" y="4059936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EC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261104" y="444398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34456" y="4023360"/>
            <a:ext cx="1508760" cy="749808"/>
          </a:xfrm>
          <a:prstGeom prst="rect">
            <a:avLst/>
          </a:prstGeom>
          <a:solidFill>
            <a:srgbClr val="03243E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34456" y="4059936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EC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934456" y="444398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206240"/>
            <a:ext cx="10972800" cy="2286000"/>
          </a:xfrm>
          <a:prstGeom prst="ellipse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4480560"/>
            <a:ext cx="10058400" cy="201168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274320"/>
            <a:ext cx="164592" cy="164592"/>
          </a:xfrm>
          <a:prstGeom prst="ellipse">
            <a:avLst/>
          </a:prstGeom>
          <a:solidFill>
            <a:srgbClr val="9EC8D8">
              <a:alpha val="35000"/>
            </a:srgbClr>
          </a:solidFill>
          <a:ln w="6350">
            <a:solidFill>
              <a:srgbClr val="9EC8D8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640080"/>
            <a:ext cx="91440" cy="91440"/>
          </a:xfrm>
          <a:prstGeom prst="ellipse">
            <a:avLst/>
          </a:prstGeom>
          <a:solidFill>
            <a:srgbClr val="9EC8D8">
              <a:alpha val="25000"/>
            </a:srgbClr>
          </a:solidFill>
          <a:ln w="6350">
            <a:solidFill>
              <a:srgbClr val="9EC8D8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5603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Config Drift?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960120"/>
            <a:ext cx="5303520" cy="1097280"/>
          </a:xfrm>
          <a:prstGeom prst="rect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024128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drift is the gradual divergence of settings between environments — typically dev and production — causing bugs, security gaps, and deployment failures.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89320" y="914400"/>
            <a:ext cx="2880360" cy="713232"/>
          </a:xfrm>
          <a:prstGeom prst="rect">
            <a:avLst/>
          </a:prstGeom>
          <a:solidFill>
            <a:srgbClr val="021B2C"/>
          </a:solidFill>
          <a:ln w="8890">
            <a:solidFill>
              <a:srgbClr val="9EC8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89320" y="914400"/>
            <a:ext cx="64008" cy="713232"/>
          </a:xfrm>
          <a:prstGeom prst="rect">
            <a:avLst/>
          </a:prstGeom>
          <a:solidFill>
            <a:srgbClr val="9EC8D8"/>
          </a:solidFill>
          <a:ln w="12700">
            <a:solidFill>
              <a:srgbClr val="9EC8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44768" y="9601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overrides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144768" y="12161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 tweak values locally &amp; forget to sync prod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89320" y="1737360"/>
            <a:ext cx="2880360" cy="713232"/>
          </a:xfrm>
          <a:prstGeom prst="rect">
            <a:avLst/>
          </a:prstGeom>
          <a:solidFill>
            <a:srgbClr val="021B2C"/>
          </a:solidFill>
          <a:ln w="8890">
            <a:solidFill>
              <a:srgbClr val="9EC8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737360"/>
            <a:ext cx="64008" cy="713232"/>
          </a:xfrm>
          <a:prstGeom prst="rect">
            <a:avLst/>
          </a:prstGeom>
          <a:solidFill>
            <a:srgbClr val="9EC8D8"/>
          </a:solidFill>
          <a:ln w="12700">
            <a:solidFill>
              <a:srgbClr val="9EC8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17830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upgrades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44768" y="20391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gets Redis; dev still uses in-memory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89320" y="2560320"/>
            <a:ext cx="2880360" cy="713232"/>
          </a:xfrm>
          <a:prstGeom prst="rect">
            <a:avLst/>
          </a:prstGeom>
          <a:solidFill>
            <a:srgbClr val="021B2C"/>
          </a:solidFill>
          <a:ln w="8890">
            <a:solidFill>
              <a:srgbClr val="9EC8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2560320"/>
            <a:ext cx="64008" cy="713232"/>
          </a:xfrm>
          <a:prstGeom prst="rect">
            <a:avLst/>
          </a:prstGeom>
          <a:solidFill>
            <a:srgbClr val="9EC8D8"/>
          </a:solidFill>
          <a:ln w="12700">
            <a:solidFill>
              <a:srgbClr val="9EC8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26060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144768" y="28620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tightens prod without updating dev docs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989320" y="3383280"/>
            <a:ext cx="2880360" cy="713232"/>
          </a:xfrm>
          <a:prstGeom prst="rect">
            <a:avLst/>
          </a:prstGeom>
          <a:solidFill>
            <a:srgbClr val="021B2C"/>
          </a:solidFill>
          <a:ln w="8890">
            <a:solidFill>
              <a:srgbClr val="9EC8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9320" y="3383280"/>
            <a:ext cx="64008" cy="713232"/>
          </a:xfrm>
          <a:prstGeom prst="rect">
            <a:avLst/>
          </a:prstGeom>
          <a:solidFill>
            <a:srgbClr val="9EC8D8"/>
          </a:solidFill>
          <a:ln w="12700">
            <a:solidFill>
              <a:srgbClr val="9EC8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44768" y="3429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 divergence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44768" y="36850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features on in dev, off in prod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2212848"/>
            <a:ext cx="5303520" cy="658368"/>
          </a:xfrm>
          <a:prstGeom prst="rect">
            <a:avLst/>
          </a:prstGeom>
          <a:solidFill>
            <a:srgbClr val="3B1010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2212848"/>
            <a:ext cx="64008" cy="658368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" y="223113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Example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2648" y="244144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database.ssl = false slips into prod, all DB traffic is unencrypted — a critical breach.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206240"/>
            <a:ext cx="10972800" cy="2286000"/>
          </a:xfrm>
          <a:prstGeom prst="ellipse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4480560"/>
            <a:ext cx="10058400" cy="201168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82880"/>
            <a:ext cx="137160" cy="137160"/>
          </a:xfrm>
          <a:prstGeom prst="ellipse">
            <a:avLst/>
          </a:prstGeom>
          <a:solidFill>
            <a:srgbClr val="9EC8D8">
              <a:alpha val="30000"/>
            </a:srgbClr>
          </a:solidFill>
          <a:ln w="6350">
            <a:solidFill>
              <a:srgbClr val="9EC8D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0" y="4114800"/>
            <a:ext cx="182880" cy="182880"/>
          </a:xfrm>
          <a:prstGeom prst="ellipse">
            <a:avLst/>
          </a:prstGeom>
          <a:solidFill>
            <a:srgbClr val="9EC8D8">
              <a:alpha val="40000"/>
            </a:srgbClr>
          </a:solidFill>
          <a:ln w="6350">
            <a:solidFill>
              <a:srgbClr val="9EC8D8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5603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Detector Works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1325880" cy="1325880"/>
          </a:xfrm>
          <a:prstGeom prst="rect">
            <a:avLst/>
          </a:prstGeom>
          <a:solidFill>
            <a:srgbClr val="021B2C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81812" y="109728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812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4904" y="1572768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JSONs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74904" y="1901952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dev &amp; prod config files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645920" y="1668780"/>
            <a:ext cx="91440" cy="0"/>
          </a:xfrm>
          <a:prstGeom prst="line">
            <a:avLst/>
          </a:prstGeom>
          <a:noFill/>
          <a:ln w="19050">
            <a:solidFill>
              <a:srgbClr val="9EC8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37360" y="1005840"/>
            <a:ext cx="1325880" cy="1325880"/>
          </a:xfrm>
          <a:prstGeom prst="rect">
            <a:avLst/>
          </a:prstGeom>
          <a:solidFill>
            <a:srgbClr val="021B2C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99132" y="109728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9132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92224" y="1572768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Keys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792224" y="1901952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Dot-notation: database.ssl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063240" y="1668780"/>
            <a:ext cx="91440" cy="0"/>
          </a:xfrm>
          <a:prstGeom prst="line">
            <a:avLst/>
          </a:prstGeom>
          <a:noFill/>
          <a:ln w="19050">
            <a:solidFill>
              <a:srgbClr val="9EC8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54680" y="1005840"/>
            <a:ext cx="1325880" cy="1325880"/>
          </a:xfrm>
          <a:prstGeom prst="rect">
            <a:avLst/>
          </a:prstGeom>
          <a:solidFill>
            <a:srgbClr val="021B2C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16452" y="109728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6452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9544" y="1572768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09544" y="1901952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value vs Prod value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480560" y="1668780"/>
            <a:ext cx="91440" cy="0"/>
          </a:xfrm>
          <a:prstGeom prst="line">
            <a:avLst/>
          </a:prstGeom>
          <a:noFill/>
          <a:ln w="19050">
            <a:solidFill>
              <a:srgbClr val="9EC8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1005840"/>
            <a:ext cx="1325880" cy="1325880"/>
          </a:xfrm>
          <a:prstGeom prst="rect">
            <a:avLst/>
          </a:prstGeom>
          <a:solidFill>
            <a:srgbClr val="021B2C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33772" y="109728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33772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26864" y="1572768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26864" y="1901952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/ Identical / Added / Removed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897880" y="1668780"/>
            <a:ext cx="91440" cy="0"/>
          </a:xfrm>
          <a:prstGeom prst="line">
            <a:avLst/>
          </a:prstGeom>
          <a:noFill/>
          <a:ln w="19050">
            <a:solidFill>
              <a:srgbClr val="9EC8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89320" y="1005840"/>
            <a:ext cx="1325880" cy="1325880"/>
          </a:xfrm>
          <a:prstGeom prst="rect">
            <a:avLst/>
          </a:prstGeom>
          <a:solidFill>
            <a:srgbClr val="021B2C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51092" y="109728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51092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044184" y="1572768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044184" y="1901952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sensitive params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315200" y="1668780"/>
            <a:ext cx="91440" cy="0"/>
          </a:xfrm>
          <a:prstGeom prst="line">
            <a:avLst/>
          </a:prstGeom>
          <a:noFill/>
          <a:ln w="19050">
            <a:solidFill>
              <a:srgbClr val="9EC8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06640" y="1005840"/>
            <a:ext cx="1325880" cy="1325880"/>
          </a:xfrm>
          <a:prstGeom prst="rect">
            <a:avLst/>
          </a:prstGeom>
          <a:solidFill>
            <a:srgbClr val="021B2C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868412" y="109728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68412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461504" y="1572768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Report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461504" y="1901952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(Identical / Total) × 100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57200" y="2633472"/>
            <a:ext cx="2084832" cy="658368"/>
          </a:xfrm>
          <a:prstGeom prst="rect">
            <a:avLst/>
          </a:prstGeom>
          <a:solidFill>
            <a:srgbClr val="021B2C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268833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Modified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" y="2962656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Count: 35  —  Key exists in both — values differ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660904" y="2633472"/>
            <a:ext cx="2084832" cy="658368"/>
          </a:xfrm>
          <a:prstGeom prst="rect">
            <a:avLst/>
          </a:prstGeom>
          <a:solidFill>
            <a:srgbClr val="021B2C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52344" y="268833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Identical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752344" y="2962656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Count: 5  —  Key exists in both — values match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864608" y="2633472"/>
            <a:ext cx="2084832" cy="658368"/>
          </a:xfrm>
          <a:prstGeom prst="rect">
            <a:avLst/>
          </a:prstGeom>
          <a:solidFill>
            <a:srgbClr val="021B2C"/>
          </a:solidFill>
          <a:ln w="12700">
            <a:solidFill>
              <a:srgbClr val="9EC8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56048" y="268833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EC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Added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956048" y="2962656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Count: 0  —  Key only in production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068312" y="2633472"/>
            <a:ext cx="2084832" cy="658368"/>
          </a:xfrm>
          <a:prstGeom prst="rect">
            <a:avLst/>
          </a:prstGeom>
          <a:solidFill>
            <a:srgbClr val="021B2C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59752" y="268833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953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Removed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159752" y="2962656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Count: 0  —  Key only in development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206240"/>
            <a:ext cx="10972800" cy="2286000"/>
          </a:xfrm>
          <a:prstGeom prst="ellipse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4480560"/>
            <a:ext cx="10058400" cy="201168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0" y="137160"/>
            <a:ext cx="109728" cy="109728"/>
          </a:xfrm>
          <a:prstGeom prst="ellipse">
            <a:avLst/>
          </a:prstGeom>
          <a:solidFill>
            <a:srgbClr val="9EC8D8">
              <a:alpha val="30000"/>
            </a:srgbClr>
          </a:solidFill>
          <a:ln w="6350">
            <a:solidFill>
              <a:srgbClr val="9EC8D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4206240"/>
            <a:ext cx="146304" cy="146304"/>
          </a:xfrm>
          <a:prstGeom prst="ellipse">
            <a:avLst/>
          </a:prstGeom>
          <a:solidFill>
            <a:srgbClr val="9EC8D8">
              <a:alpha val="35000"/>
            </a:srgbClr>
          </a:solidFill>
          <a:ln w="6350">
            <a:solidFill>
              <a:srgbClr val="9EC8D8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5603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 vs Production — Side by Side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896112"/>
            <a:ext cx="3977640" cy="365760"/>
          </a:xfrm>
          <a:prstGeom prst="rect">
            <a:avLst/>
          </a:prstGeom>
          <a:solidFill>
            <a:srgbClr val="0D4A1C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9611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E6C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🛠  Development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896112"/>
            <a:ext cx="3977640" cy="365760"/>
          </a:xfrm>
          <a:prstGeom prst="rect">
            <a:avLst/>
          </a:prstGeom>
          <a:solidFill>
            <a:srgbClr val="0A2A4A"/>
          </a:solidFill>
          <a:ln w="12700">
            <a:solidFill>
              <a:srgbClr val="9EC8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89611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EC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Production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44168"/>
            <a:ext cx="3977640" cy="329184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38074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cache.provider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011680" y="13807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34840" y="1508760"/>
            <a:ext cx="274320" cy="0"/>
          </a:xfrm>
          <a:prstGeom prst="line">
            <a:avLst/>
          </a:prstGeom>
          <a:noFill/>
          <a:ln w="12700">
            <a:solidFill>
              <a:srgbClr val="9EC8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344168"/>
            <a:ext cx="3977640" cy="329184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38074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0" y="13807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1673352"/>
            <a:ext cx="3977640" cy="329184"/>
          </a:xfrm>
          <a:prstGeom prst="rect">
            <a:avLst/>
          </a:prstGeom>
          <a:solidFill>
            <a:srgbClr val="03243E"/>
          </a:solidFill>
          <a:ln w="12700">
            <a:solidFill>
              <a:srgbClr val="03243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17099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storage.provider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011680" y="1709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434840" y="1837944"/>
            <a:ext cx="274320" cy="0"/>
          </a:xfrm>
          <a:prstGeom prst="line">
            <a:avLst/>
          </a:prstGeom>
          <a:noFill/>
          <a:ln w="12700">
            <a:solidFill>
              <a:srgbClr val="9EC8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1673352"/>
            <a:ext cx="3977640" cy="329184"/>
          </a:xfrm>
          <a:prstGeom prst="rect">
            <a:avLst/>
          </a:prstGeom>
          <a:solidFill>
            <a:srgbClr val="03243E"/>
          </a:solidFill>
          <a:ln w="12700">
            <a:solidFill>
              <a:srgbClr val="03243E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7099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00800" y="17099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2002536"/>
            <a:ext cx="3977640" cy="329184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0391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email.provider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011680" y="20391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mailhog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434840" y="2167128"/>
            <a:ext cx="274320" cy="0"/>
          </a:xfrm>
          <a:prstGeom prst="line">
            <a:avLst/>
          </a:prstGeom>
          <a:noFill/>
          <a:ln w="12700">
            <a:solidFill>
              <a:srgbClr val="9EC8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2002536"/>
            <a:ext cx="3977640" cy="329184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0391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sendgrid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00800" y="20391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2331720"/>
            <a:ext cx="3977640" cy="329184"/>
          </a:xfrm>
          <a:prstGeom prst="rect">
            <a:avLst/>
          </a:prstGeom>
          <a:solidFill>
            <a:srgbClr val="03243E"/>
          </a:solidFill>
          <a:ln w="12700">
            <a:solidFill>
              <a:srgbClr val="03243E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236829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database.ssl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011680" y="23682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❌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434840" y="2496312"/>
            <a:ext cx="274320" cy="0"/>
          </a:xfrm>
          <a:prstGeom prst="line">
            <a:avLst/>
          </a:prstGeom>
          <a:noFill/>
          <a:ln w="12700">
            <a:solidFill>
              <a:srgbClr val="9EC8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9160" y="2331720"/>
            <a:ext cx="3977640" cy="329184"/>
          </a:xfrm>
          <a:prstGeom prst="rect">
            <a:avLst/>
          </a:prstGeom>
          <a:solidFill>
            <a:srgbClr val="03243E"/>
          </a:solidFill>
          <a:ln w="12700">
            <a:solidFill>
              <a:srgbClr val="03243E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236829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✅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00800" y="23682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7200" y="2660904"/>
            <a:ext cx="3977640" cy="329184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26974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auth.mfa_required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011680" y="2697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❌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434840" y="2825496"/>
            <a:ext cx="274320" cy="0"/>
          </a:xfrm>
          <a:prstGeom prst="line">
            <a:avLst/>
          </a:prstGeom>
          <a:noFill/>
          <a:ln w="12700">
            <a:solidFill>
              <a:srgbClr val="9EC8D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09160" y="2660904"/>
            <a:ext cx="3977640" cy="329184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26974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✅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400800" y="2697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57200" y="2990088"/>
            <a:ext cx="3977640" cy="329184"/>
          </a:xfrm>
          <a:prstGeom prst="rect">
            <a:avLst/>
          </a:prstGeom>
          <a:solidFill>
            <a:srgbClr val="03243E"/>
          </a:solidFill>
          <a:ln w="12700">
            <a:solidFill>
              <a:srgbClr val="03243E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302666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rate_limiting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011680" y="30266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❌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434840" y="3154680"/>
            <a:ext cx="274320" cy="0"/>
          </a:xfrm>
          <a:prstGeom prst="line">
            <a:avLst/>
          </a:prstGeom>
          <a:noFill/>
          <a:ln w="12700">
            <a:solidFill>
              <a:srgbClr val="9EC8D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09160" y="2990088"/>
            <a:ext cx="3977640" cy="329184"/>
          </a:xfrm>
          <a:prstGeom prst="rect">
            <a:avLst/>
          </a:prstGeom>
          <a:solidFill>
            <a:srgbClr val="03243E"/>
          </a:solidFill>
          <a:ln w="12700">
            <a:solidFill>
              <a:srgbClr val="03243E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0" y="302666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✅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400800" y="30266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57200" y="3319272"/>
            <a:ext cx="3977640" cy="329184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335584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logging.level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2011680" y="3355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434840" y="3483864"/>
            <a:ext cx="274320" cy="0"/>
          </a:xfrm>
          <a:prstGeom prst="line">
            <a:avLst/>
          </a:prstGeom>
          <a:noFill/>
          <a:ln w="12700">
            <a:solidFill>
              <a:srgbClr val="9EC8D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09160" y="3319272"/>
            <a:ext cx="3977640" cy="329184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54880" y="335584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400800" y="33558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57200" y="3648456"/>
            <a:ext cx="3977640" cy="329184"/>
          </a:xfrm>
          <a:prstGeom prst="rect">
            <a:avLst/>
          </a:prstGeom>
          <a:solidFill>
            <a:srgbClr val="03243E"/>
          </a:solidFill>
          <a:ln w="12700">
            <a:solidFill>
              <a:srgbClr val="03243E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" y="36850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2011680" y="3685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434840" y="3813048"/>
            <a:ext cx="274320" cy="0"/>
          </a:xfrm>
          <a:prstGeom prst="line">
            <a:avLst/>
          </a:prstGeom>
          <a:noFill/>
          <a:ln w="12700">
            <a:solidFill>
              <a:srgbClr val="9EC8D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09160" y="3648456"/>
            <a:ext cx="3977640" cy="329184"/>
          </a:xfrm>
          <a:prstGeom prst="rect">
            <a:avLst/>
          </a:prstGeom>
          <a:solidFill>
            <a:srgbClr val="03243E"/>
          </a:solidFill>
          <a:ln w="12700">
            <a:solidFill>
              <a:srgbClr val="03243E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54880" y="36850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400800" y="36850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206240"/>
            <a:ext cx="10972800" cy="2286000"/>
          </a:xfrm>
          <a:prstGeom prst="ellipse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4480560"/>
            <a:ext cx="10058400" cy="201168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274320"/>
            <a:ext cx="128016" cy="128016"/>
          </a:xfrm>
          <a:prstGeom prst="ellipse">
            <a:avLst/>
          </a:prstGeom>
          <a:solidFill>
            <a:srgbClr val="9EC8D8">
              <a:alpha val="35000"/>
            </a:srgbClr>
          </a:solidFill>
          <a:ln w="6350">
            <a:solidFill>
              <a:srgbClr val="9EC8D8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" y="3474720"/>
            <a:ext cx="164592" cy="164592"/>
          </a:xfrm>
          <a:prstGeom prst="ellipse">
            <a:avLst/>
          </a:prstGeom>
          <a:solidFill>
            <a:srgbClr val="9EC8D8">
              <a:alpha val="35000"/>
            </a:srgbClr>
          </a:solidFill>
          <a:ln w="6350">
            <a:solidFill>
              <a:srgbClr val="9EC8D8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5603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Drift Categories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960120"/>
            <a:ext cx="4160520" cy="685800"/>
          </a:xfrm>
          <a:prstGeom prst="rect">
            <a:avLst/>
          </a:prstGeom>
          <a:solidFill>
            <a:srgbClr val="021B2C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60120"/>
            <a:ext cx="64008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1014984"/>
            <a:ext cx="3959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3504" y="1234440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memory→redis  |  local→s3  |  mailhog→sendgrid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03504" y="1417320"/>
            <a:ext cx="3959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 scaling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800600" y="960120"/>
            <a:ext cx="4160520" cy="685800"/>
          </a:xfrm>
          <a:prstGeom prst="rect">
            <a:avLst/>
          </a:prstGeom>
          <a:solidFill>
            <a:srgbClr val="021B2C"/>
          </a:solidFill>
          <a:ln w="127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960120"/>
            <a:ext cx="64008" cy="6858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46904" y="1014984"/>
            <a:ext cx="3959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Hardening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46904" y="1234440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ssl: false→true  |  mfa: false→true  |  jwt: 24h→1h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46904" y="1417320"/>
            <a:ext cx="3959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Beneficial — prod more secure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1755648"/>
            <a:ext cx="4160520" cy="685800"/>
          </a:xfrm>
          <a:prstGeom prst="rect">
            <a:avLst/>
          </a:prstGeom>
          <a:solidFill>
            <a:srgbClr val="021B2C"/>
          </a:solidFill>
          <a:ln w="1270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1755648"/>
            <a:ext cx="64008" cy="6858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" y="1810512"/>
            <a:ext cx="3959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3504" y="2029968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max_connections: 50→1000  |  pool_size: 5→20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03504" y="2212848"/>
            <a:ext cx="3959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for real traffic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00600" y="1755648"/>
            <a:ext cx="4160520" cy="685800"/>
          </a:xfrm>
          <a:prstGeom prst="rect">
            <a:avLst/>
          </a:prstGeom>
          <a:solidFill>
            <a:srgbClr val="021B2C"/>
          </a:solidFill>
          <a:ln w="1270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1755648"/>
            <a:ext cx="64008" cy="6858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46904" y="1810512"/>
            <a:ext cx="3959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Logging &amp; Monitoring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46904" y="2029968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debug→warn  |  format: pretty→json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946904" y="2212848"/>
            <a:ext cx="3959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for log aggregators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2551176"/>
            <a:ext cx="4160520" cy="685800"/>
          </a:xfrm>
          <a:prstGeom prst="rect">
            <a:avLst/>
          </a:prstGeom>
          <a:solidFill>
            <a:srgbClr val="021B2C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2551176"/>
            <a:ext cx="64008" cy="6858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" y="2606040"/>
            <a:ext cx="3959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Flags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03504" y="2825496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beta_api: true→false  |  analytics: false→true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03504" y="3008376"/>
            <a:ext cx="3959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rollout strategy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00600" y="2551176"/>
            <a:ext cx="4160520" cy="685800"/>
          </a:xfrm>
          <a:prstGeom prst="rect">
            <a:avLst/>
          </a:prstGeom>
          <a:solidFill>
            <a:srgbClr val="021B2C"/>
          </a:solidFill>
          <a:ln w="12700">
            <a:solidFill>
              <a:srgbClr val="5DADE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2551176"/>
            <a:ext cx="64008" cy="685800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46904" y="2606040"/>
            <a:ext cx="3959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DADE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Networking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946904" y="2825496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host: localhost→0.0.0.0  |  port: 3000→8080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946904" y="3008376"/>
            <a:ext cx="3959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vs public-facing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206240"/>
            <a:ext cx="10972800" cy="2286000"/>
          </a:xfrm>
          <a:prstGeom prst="ellipse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4480560"/>
            <a:ext cx="10058400" cy="201168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274320"/>
            <a:ext cx="146304" cy="146304"/>
          </a:xfrm>
          <a:prstGeom prst="ellipse">
            <a:avLst/>
          </a:prstGeom>
          <a:solidFill>
            <a:srgbClr val="9EC8D8">
              <a:alpha val="35000"/>
            </a:srgbClr>
          </a:solidFill>
          <a:ln w="6350">
            <a:solidFill>
              <a:srgbClr val="9EC8D8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4114800"/>
            <a:ext cx="118872" cy="118872"/>
          </a:xfrm>
          <a:prstGeom prst="ellipse">
            <a:avLst/>
          </a:prstGeom>
          <a:solidFill>
            <a:srgbClr val="9EC8D8">
              <a:alpha val="30000"/>
            </a:srgbClr>
          </a:solidFill>
          <a:ln w="6350">
            <a:solidFill>
              <a:srgbClr val="9EC8D8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5603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Score vs Real Risk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960120"/>
            <a:ext cx="2286000" cy="1920240"/>
          </a:xfrm>
          <a:prstGeom prst="rect">
            <a:avLst/>
          </a:prstGeom>
          <a:solidFill>
            <a:srgbClr val="021B2C"/>
          </a:solidFill>
          <a:ln w="2540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1430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2311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of drift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4505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danger level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71800" y="960120"/>
            <a:ext cx="2286000" cy="1920240"/>
          </a:xfrm>
          <a:prstGeom prst="rect">
            <a:avLst/>
          </a:prstGeom>
          <a:solidFill>
            <a:srgbClr val="021B2C"/>
          </a:solidFill>
          <a:ln w="254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71800" y="11430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2971800" y="1920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Alerts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71800" y="22311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critical params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71800" y="24505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hardened ✅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0" y="960120"/>
            <a:ext cx="3429000" cy="301752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59552" y="99669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changes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52360" y="99669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0" y="1298448"/>
            <a:ext cx="3429000" cy="301752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9552" y="13350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52360" y="133502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0" y="1636776"/>
            <a:ext cx="3429000" cy="301752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59552" y="16733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tuning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52360" y="16733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0" y="1975104"/>
            <a:ext cx="3429000" cy="301752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59552" y="2011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observability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52360" y="2011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0" y="2313432"/>
            <a:ext cx="3429000" cy="301752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59552" y="23500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452360" y="23500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0" y="2651760"/>
            <a:ext cx="3429000" cy="301752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59552" y="268833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&amp; naming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452360" y="268833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017520"/>
            <a:ext cx="8321040" cy="658368"/>
          </a:xfrm>
          <a:prstGeom prst="rect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9EC8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017520"/>
            <a:ext cx="64008" cy="658368"/>
          </a:xfrm>
          <a:prstGeom prst="rect">
            <a:avLst/>
          </a:prstGeom>
          <a:solidFill>
            <a:srgbClr val="9EC8D8"/>
          </a:solidFill>
          <a:ln w="12700">
            <a:solidFill>
              <a:srgbClr val="9EC8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" y="3044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Analogy: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2648" y="3291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car = no seatbelt, loud music, no speed limit.  Prod car = seatbelts mandatory, speed limits enforced — VERY different, but the prod car is SAFER, not more dangerous.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6400800" cy="6400800"/>
          </a:xfrm>
          <a:prstGeom prst="ellipse">
            <a:avLst/>
          </a:prstGeom>
          <a:solidFill>
            <a:srgbClr val="065A82">
              <a:alpha val="18000"/>
            </a:srgbClr>
          </a:solidFill>
          <a:ln w="12700">
            <a:solidFill>
              <a:srgbClr val="065A82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1C7293">
              <a:alpha val="22000"/>
            </a:srgbClr>
          </a:solidFill>
          <a:ln w="12700">
            <a:solidFill>
              <a:srgbClr val="1C7293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274320"/>
            <a:ext cx="164592" cy="164592"/>
          </a:xfrm>
          <a:prstGeom prst="ellipse">
            <a:avLst/>
          </a:prstGeom>
          <a:solidFill>
            <a:srgbClr val="9EC8D8">
              <a:alpha val="40000"/>
            </a:srgbClr>
          </a:solidFill>
          <a:ln w="6350">
            <a:solidFill>
              <a:srgbClr val="9EC8D8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640080"/>
            <a:ext cx="91440" cy="91440"/>
          </a:xfrm>
          <a:prstGeom prst="ellipse">
            <a:avLst/>
          </a:prstGeom>
          <a:solidFill>
            <a:srgbClr val="9EC8D8">
              <a:alpha val="30000"/>
            </a:srgbClr>
          </a:solidFill>
          <a:ln w="6350">
            <a:solidFill>
              <a:srgbClr val="9EC8D8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4389120"/>
            <a:ext cx="146304" cy="146304"/>
          </a:xfrm>
          <a:prstGeom prst="ellipse">
            <a:avLst/>
          </a:prstGeom>
          <a:solidFill>
            <a:srgbClr val="9EC8D8">
              <a:alpha val="35000"/>
            </a:srgbClr>
          </a:solidFill>
          <a:ln w="6350">
            <a:solidFill>
              <a:srgbClr val="9EC8D8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023360"/>
            <a:ext cx="91440" cy="91440"/>
          </a:xfrm>
          <a:prstGeom prst="ellipse">
            <a:avLst/>
          </a:prstGeom>
          <a:solidFill>
            <a:srgbClr val="9EC8D8">
              <a:alpha val="28000"/>
            </a:srgbClr>
          </a:solidFill>
          <a:ln w="6350">
            <a:solidFill>
              <a:srgbClr val="9EC8D8">
                <a:alpha val="43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5603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57200" y="932688"/>
            <a:ext cx="8321040" cy="585216"/>
          </a:xfrm>
          <a:prstGeom prst="rect">
            <a:avLst/>
          </a:prstGeom>
          <a:solidFill>
            <a:srgbClr val="03243E"/>
          </a:solidFill>
          <a:ln w="1016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024128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024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24128" y="98755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EC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 = Volume, Not Danger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24128" y="123444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reflects how different environments are, not how risky they are.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591056"/>
            <a:ext cx="8321040" cy="585216"/>
          </a:xfrm>
          <a:prstGeom prst="rect">
            <a:avLst/>
          </a:prstGeom>
          <a:solidFill>
            <a:srgbClr val="03243E"/>
          </a:solidFill>
          <a:ln w="1016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0352" y="1682496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24128" y="16459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EC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Security Alerts = Win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24128" y="189280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SSL, MFA, JWT, rate limiting, stack traces — all correctly hardened in prod.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249424"/>
            <a:ext cx="8321040" cy="585216"/>
          </a:xfrm>
          <a:prstGeom prst="rect">
            <a:avLst/>
          </a:prstGeom>
          <a:solidFill>
            <a:srgbClr val="03243E"/>
          </a:solidFill>
          <a:ln w="1016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30352" y="2340864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340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24128" y="230428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EC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drifts went the right way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24128" y="255117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security param is MORE restrictive in prod. The drift is beneficial.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907792"/>
            <a:ext cx="8321040" cy="585216"/>
          </a:xfrm>
          <a:prstGeom prst="rect">
            <a:avLst/>
          </a:prstGeom>
          <a:solidFill>
            <a:srgbClr val="03243E"/>
          </a:solidFill>
          <a:ln w="1016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30352" y="2999232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4128" y="296265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EC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Identical = Schema consistent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24128" y="320954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version, port, dark_mode, cors, refresh_token — same in both. No accidental drops.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566160"/>
            <a:ext cx="8321040" cy="585216"/>
          </a:xfrm>
          <a:prstGeom prst="rect">
            <a:avLst/>
          </a:prstGeom>
          <a:solidFill>
            <a:srgbClr val="03243E"/>
          </a:solidFill>
          <a:ln w="1016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30352" y="365760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3657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24128" y="362102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EC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Added=0  Removed=0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24128" y="386791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schema symmetry. Both environments have the exact same set of keys.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315968"/>
            <a:ext cx="8321040" cy="566928"/>
          </a:xfrm>
          <a:prstGeom prst="rect">
            <a:avLst/>
          </a:prstGeom>
          <a:solidFill>
            <a:srgbClr val="065A82">
              <a:alpha val="45000"/>
            </a:srgbClr>
          </a:solidFill>
          <a:ln w="19050">
            <a:solidFill>
              <a:srgbClr val="9EC8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3434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The 15% health score reflects drift volume, not danger. All security params are correctly hardened — real risk is LOW. "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37360" y="-859536"/>
            <a:ext cx="6400800" cy="6400800"/>
          </a:xfrm>
          <a:prstGeom prst="ellipse">
            <a:avLst/>
          </a:prstGeom>
          <a:solidFill>
            <a:srgbClr val="065A82">
              <a:alpha val="18000"/>
            </a:srgbClr>
          </a:solidFill>
          <a:ln w="12700">
            <a:solidFill>
              <a:srgbClr val="065A82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1C7293">
              <a:alpha val="22000"/>
            </a:srgbClr>
          </a:solidFill>
          <a:ln w="12700">
            <a:solidFill>
              <a:srgbClr val="1C7293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274320"/>
            <a:ext cx="164592" cy="164592"/>
          </a:xfrm>
          <a:prstGeom prst="ellipse">
            <a:avLst/>
          </a:prstGeom>
          <a:solidFill>
            <a:srgbClr val="9EC8D8">
              <a:alpha val="40000"/>
            </a:srgbClr>
          </a:solidFill>
          <a:ln w="6350">
            <a:solidFill>
              <a:srgbClr val="9EC8D8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640080"/>
            <a:ext cx="91440" cy="91440"/>
          </a:xfrm>
          <a:prstGeom prst="ellipse">
            <a:avLst/>
          </a:prstGeom>
          <a:solidFill>
            <a:srgbClr val="9EC8D8">
              <a:alpha val="30000"/>
            </a:srgbClr>
          </a:solidFill>
          <a:ln w="6350">
            <a:solidFill>
              <a:srgbClr val="9EC8D8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4389120"/>
            <a:ext cx="146304" cy="146304"/>
          </a:xfrm>
          <a:prstGeom prst="ellipse">
            <a:avLst/>
          </a:prstGeom>
          <a:solidFill>
            <a:srgbClr val="9EC8D8">
              <a:alpha val="35000"/>
            </a:srgbClr>
          </a:solidFill>
          <a:ln w="6350">
            <a:solidFill>
              <a:srgbClr val="9EC8D8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023360"/>
            <a:ext cx="91440" cy="91440"/>
          </a:xfrm>
          <a:prstGeom prst="ellipse">
            <a:avLst/>
          </a:prstGeom>
          <a:solidFill>
            <a:srgbClr val="9EC8D8">
              <a:alpha val="28000"/>
            </a:srgbClr>
          </a:solidFill>
          <a:ln w="6350">
            <a:solidFill>
              <a:srgbClr val="9EC8D8">
                <a:alpha val="43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5603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30352" y="1024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24128" y="98755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0352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24128" y="189280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0352" y="2340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24128" y="230428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24128" y="255117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0352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4128" y="296265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24128" y="320954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0352" y="3657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24128" y="362102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43434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DF95786-A5FD-4056-ED76-3812DCA3C270}"/>
              </a:ext>
            </a:extLst>
          </p:cNvPr>
          <p:cNvSpPr txBox="1"/>
          <p:nvPr/>
        </p:nvSpPr>
        <p:spPr>
          <a:xfrm>
            <a:off x="1991831" y="1348949"/>
            <a:ext cx="464827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600" dirty="0">
                <a:solidFill>
                  <a:schemeClr val="bg1"/>
                </a:solidFill>
                <a:latin typeface="Britannic Bold" panose="020B0903060703020204" pitchFamily="34" charset="0"/>
              </a:rPr>
              <a:t>THANK YOU</a:t>
            </a:r>
            <a:endParaRPr lang="en-IN" sz="9600" dirty="0">
              <a:solidFill>
                <a:schemeClr val="bg1"/>
              </a:solidFill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721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643</Words>
  <Application>Microsoft Office PowerPoint</Application>
  <PresentationFormat>On-screen Show (16:9)</PresentationFormat>
  <Paragraphs>162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Britannic Bold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Config Drift Detector</dc:title>
  <dc:subject>PptxGenJS Presentation</dc:subject>
  <dc:creator>Abinesh</dc:creator>
  <cp:lastModifiedBy>USER</cp:lastModifiedBy>
  <cp:revision>3</cp:revision>
  <dcterms:created xsi:type="dcterms:W3CDTF">2026-06-07T15:56:02Z</dcterms:created>
  <dcterms:modified xsi:type="dcterms:W3CDTF">2026-06-09T09:26:16Z</dcterms:modified>
</cp:coreProperties>
</file>